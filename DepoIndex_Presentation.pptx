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DepoIndex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42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Deposition Topic Index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Engineering Internship — Technical Case Study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55752" y="1572768"/>
            <a:ext cx="1975104" cy="731520"/>
          </a:xfrm>
          <a:prstGeom prst="roundRect">
            <a:avLst>
              <a:gd name="adj" fmla="val 7500"/>
            </a:avLst>
          </a:prstGeom>
          <a:solidFill>
            <a:srgbClr val="26305E"/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5752" y="1572768"/>
            <a:ext cx="197510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30856" y="157276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32024" y="1572768"/>
            <a:ext cx="1975104" cy="731520"/>
          </a:xfrm>
          <a:prstGeom prst="roundRect">
            <a:avLst>
              <a:gd name="adj" fmla="val 7500"/>
            </a:avLst>
          </a:prstGeom>
          <a:solidFill>
            <a:srgbClr val="26305E"/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2024" y="1572768"/>
            <a:ext cx="197510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07128" y="157276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08296" y="1572768"/>
            <a:ext cx="1975104" cy="731520"/>
          </a:xfrm>
          <a:prstGeom prst="roundRect">
            <a:avLst>
              <a:gd name="adj" fmla="val 7500"/>
            </a:avLst>
          </a:prstGeom>
          <a:solidFill>
            <a:srgbClr val="26305E"/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08296" y="1572768"/>
            <a:ext cx="197510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83400" y="157276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84568" y="1572768"/>
            <a:ext cx="1975104" cy="731520"/>
          </a:xfrm>
          <a:prstGeom prst="roundRect">
            <a:avLst>
              <a:gd name="adj" fmla="val 7500"/>
            </a:avLst>
          </a:prstGeom>
          <a:solidFill>
            <a:srgbClr val="26305E"/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4568" y="1572768"/>
            <a:ext cx="197510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Topic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259672" y="157276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460840" y="1572768"/>
            <a:ext cx="1975104" cy="731520"/>
          </a:xfrm>
          <a:prstGeom prst="roundRect">
            <a:avLst>
              <a:gd name="adj" fmla="val 7500"/>
            </a:avLst>
          </a:prstGeom>
          <a:solidFill>
            <a:srgbClr val="2F3C7E"/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60840" y="1572768"/>
            <a:ext cx="197510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4040" y="265176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 w="9525">
            <a:solidFill>
              <a:srgbClr val="3A4A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4040" y="2743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2,018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83768" y="33467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transcript lines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98952" y="265176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 w="9525">
            <a:solidFill>
              <a:srgbClr val="3A4A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98952" y="2743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3608680" y="33467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chunks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23864" y="265176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 w="9525">
            <a:solidFill>
              <a:srgbClr val="3A4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3864" y="2743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6333592" y="33467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topics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48776" y="265176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 w="9525">
            <a:solidFill>
              <a:srgbClr val="3A4A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48776" y="2743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9058504" y="33467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topics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56048" y="3913632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6305E"/>
          </a:solidFill>
          <a:ln w="9525">
            <a:solidFill>
              <a:srgbClr val="4C7F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56048" y="3913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</a:t>
            </a:r>
            <a:pPr algn="ctr" indent="0" marL="0">
              <a:buNone/>
            </a:pPr>
            <a:r>
              <a:rPr lang="en-US" sz="105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43 topics manually reviewed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 long deposition into a chronological, source-verifiable topic index.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70248" y="512064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4C7FE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70248" y="5120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depoindex.streamlit.app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7607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prototype — reads the final JSON index, no API key required at runtime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LLM Extraction with Deterministic Controls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00888" y="137160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00888" y="137160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712568" y="137160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95448" y="137160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95448" y="137160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907128" y="137160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90008" y="137160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90008" y="137160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2,018 Addressable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01688" y="137160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4568" y="137160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84568" y="137160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Overlapping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296248" y="137160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479128" y="137160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79128" y="137160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Candidate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0" y="21579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▼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0888" y="24688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2630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888" y="24688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712568" y="246888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95448" y="24688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2630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895448" y="24688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07128" y="246888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90008" y="24688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2630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90008" y="24688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Boundary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01688" y="246888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84568" y="24688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4C7F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84568" y="24688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Final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96248" y="2468880"/>
            <a:ext cx="18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79128" y="24688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26305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79128" y="24688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9448" y="3337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7464" y="34290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lines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37464" y="37581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24048" y="3337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52064" y="34290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lines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252064" y="37581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between chunks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38648" y="3337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66664" y="34290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lines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766664" y="37581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per chunk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13368" y="33375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77960" y="3410712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277960" y="3611880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Flash Lite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pipeline extraction
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3.6 Flash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segmentation / overlap testing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B153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2960" y="452628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DESIGN PRINCIPLE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47823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</a:t>
            </a:r>
            <a:pPr algn="ctr" indent="0" marL="0">
              <a:buNone/>
            </a:pPr>
            <a:r>
              <a:rPr lang="en-US" sz="1650" dirty="0">
                <a:solidFill>
                  <a:srgbClr val="7C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logic reconciles</a:t>
            </a:r>
            <a:pPr algn="ctr" indent="0" marL="0">
              <a:buNone/>
            </a:pPr>
            <a:r>
              <a:rPr lang="en-US" sz="1650" dirty="0">
                <a:solidFill>
                  <a:srgbClr val="7C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validates difficult boundaries</a:t>
            </a:r>
            <a:endParaRPr lang="en-US" sz="16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5595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candidates from overlapping chunks are reconciled into 43 final topics — never emitted as-is.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Provenance: Every Topic Is Traceable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448" y="89611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44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398368" y="89611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9836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location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87288" y="89611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8728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location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76208" y="89611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762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source chunk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6204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1719072"/>
            <a:ext cx="626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OF 43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1975104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Loan Servicing Transfers,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Risks, and Regulations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2962656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2962656"/>
            <a:ext cx="242316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 ·  LINE 5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858768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858768"/>
            <a:ext cx="242316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 ·  LINE 7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29626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transcript excerpt attached to the topic, justifying why the boundary was drawn there.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8221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CHUNK(S)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0599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overlapping-chunk index preserved alongside the topic for traceability.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92861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preserves:  </a:t>
            </a:r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· exact start page/line · exact end page/line · supporting evidence · source chunk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1481328"/>
            <a:ext cx="40050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91272" y="16459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43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891272" y="188366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Witness Professional Background and CV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891272" y="24688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· LINE 2</a:t>
            </a:r>
            <a:pPr indent="0" marL="0">
              <a:buNone/>
            </a:pPr>
            <a:r>
              <a:rPr lang="en-US" sz="12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· LINE 17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3264408"/>
            <a:ext cx="4005072" cy="2194560"/>
          </a:xfrm>
          <a:prstGeom prst="roundRect">
            <a:avLst>
              <a:gd name="adj" fmla="val 3333"/>
            </a:avLst>
          </a:prstGeom>
          <a:solidFill>
            <a:srgbClr val="0B15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09560" y="3447288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plausible topic label is not enough. The location must be independently verifiable.”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Measuring More Than Topic Quality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0868" y="822960"/>
            <a:ext cx="352044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23748" y="89611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/ 43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049628" y="8229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validation passed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35628" y="822960"/>
            <a:ext cx="352044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18508" y="89611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844388" y="8229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entries passed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0388" y="822960"/>
            <a:ext cx="352044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3268" y="89611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639148" y="8229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criteria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8008" y="1801368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312" y="18836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accuracy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4312" y="216712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cited page/line range contain the topic?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52648" y="1801368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8952" y="18836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relevance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498952" y="216712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label represent the discussion?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87288" y="1801368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3592" y="18836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quality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16712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start/end at a real transition?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21928" y="1801368"/>
            <a:ext cx="26517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68232" y="18836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68232" y="216712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topic distinct, not duplicated?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80364" y="27432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2630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80364" y="274320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candidates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954884" y="274320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19476" y="27432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2630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19476" y="274320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993996" y="274320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58588" y="27432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26305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8588" y="274320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033108" y="274320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97700" y="27432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2630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97700" y="274320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corrections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072220" y="274320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36812" y="274320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4C7FE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36812" y="274320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index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CASES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8572" y="3611880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3164" y="372160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boundary continuation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3164" y="409651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candidate: Page 11 Line 2 → Page 11 Line 7. Overlap context revealed the discussion continued into later pages.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23164" y="4855464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Overlapping chunks preserved context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89908" y="3611880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54500" y="372160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ITT earnings discussion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454500" y="409651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 described the same continuous hypothetical about ITT degree value and post-graduation earnings.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454500" y="4855464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Merged into Page 37 Ln 23 → Page 42 Ln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21244" y="3611880"/>
            <a:ext cx="36118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85836" y="372160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transfer / regulation discussion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85836" y="409651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servicing-transfer discussion overlapped with the following regulation-specific discussion.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285836" y="4855464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Boundary corrected at 23:7 / 23:8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5394960"/>
            <a:ext cx="11091672" cy="1207008"/>
          </a:xfrm>
          <a:prstGeom prst="roundRect">
            <a:avLst>
              <a:gd name="adj" fmla="val 5303"/>
            </a:avLst>
          </a:prstGeom>
          <a:solidFill>
            <a:srgbClr val="FCF1DD"/>
          </a:solidFill>
          <a:ln w="12700">
            <a:solidFill>
              <a:srgbClr val="E8B96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7240" y="54864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EXPERIMENT LIMITATION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" y="574243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complete independent end-to-end LLM runs could not be completed under the available Gemini free-tier request quota. The pipeline stopped rather than repeatedly retrying quota failures; successful intermediate results were saved.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909560" y="5504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mechanisms: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7909560" y="5760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· saved intermediate results · deterministic merge · provenance validation · manual review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384048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deposition evaluated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candidate extraction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20-entry manual review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3-run stability experiment incomplete due to API quota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rather than production legal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57800" cy="384048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5740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controlled multi-run stability testing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topic count, labels, boundaries, and provenance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Related-topic navigation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Source-text jump links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additional depositions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Larger-scale consistency analysis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406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→ reproducible, provenance-preserving transcript navigation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    ·     Live Streamlit app     ·     Validation report     ·     Technical documentation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2026-09-12T05:33:12Z</dcterms:created>
  <dcterms:modified xsi:type="dcterms:W3CDTF">2026-09-12T05:33:12Z</dcterms:modified>
</cp:coreProperties>
</file>